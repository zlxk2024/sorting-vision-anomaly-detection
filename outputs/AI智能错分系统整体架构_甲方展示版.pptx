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b777eb9fcd24ebc" /><Relationship Type="http://schemas.openxmlformats.org/officeDocument/2006/relationships/extended-properties" Target="/docProps/app.xml" Id="R1079ee4093824752" /><Relationship Type="http://schemas.openxmlformats.org/officeDocument/2006/relationships/officeDocument" Target="/ppt/presentation.xml" Id="Re8d867b3d7e8490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f6ec58f1a274f89"/>
  </p:sldMasterIdLst>
  <p:notesMasterIdLst>
    <p:notesMasterId xmlns:r="http://schemas.openxmlformats.org/officeDocument/2006/relationships" r:id="R902a4f838446428e"/>
  </p:notesMasterIdLst>
  <p:sldIdLst>
    <p:sldId xmlns:r="http://schemas.openxmlformats.org/officeDocument/2006/relationships" id="256" r:id="R1ffad6afb76944d7"/>
  </p:sldIdLst>
  <p:sldSz cx="15240000" cy="8572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6c2efe6aff24ed8" /><Relationship Type="http://schemas.openxmlformats.org/officeDocument/2006/relationships/slideMaster" Target="/ppt/slideMasters/slideMaster1.xml" Id="Rbf6ec58f1a274f89" /><Relationship Type="http://schemas.openxmlformats.org/officeDocument/2006/relationships/notesMaster" Target="/ppt/notesMasters/notesMaster1.xml" Id="R902a4f838446428e" /><Relationship Type="http://schemas.openxmlformats.org/officeDocument/2006/relationships/presProps" Target="/ppt/presProps.xml" Id="R256ff514c9b541a6" /><Relationship Type="http://schemas.openxmlformats.org/officeDocument/2006/relationships/tableStyles" Target="/ppt/tableStyles.xml" Id="Rdf81736233664750" /><Relationship Type="http://schemas.openxmlformats.org/officeDocument/2006/relationships/slide" Target="/ppt/slides/slide1.xml" Id="R1ffad6afb76944d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0d50b0c55274a8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ccca9e9bf264f7d" /><Relationship Type="http://schemas.openxmlformats.org/officeDocument/2006/relationships/notesMaster" Target="/ppt/notesMasters/notesMaster1.xml" Id="R447ca4bfa55f457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798a62045a498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74ed24553104b6d" /><Relationship Type="http://schemas.openxmlformats.org/officeDocument/2006/relationships/slideLayout" Target="/ppt/slideLayouts/slideLayout1.xml" Id="Re4efb0d479c24fd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4efb0d479c24fd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dd4d6304064136" /><Relationship Type="http://schemas.openxmlformats.org/officeDocument/2006/relationships/notesSlide" Target="/ppt/notesSlides/notesSlide1.xml" Id="R7f2d876752f64bb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7" name="bg-gradient-top">
            <a:extLst xmlns:a="http://schemas.openxmlformats.org/drawingml/2006/main">
              <a:ext uri="{FF2B5EF4-FFF2-40B4-BE49-F238E27FC236}">
                <a16:creationId xmlns:a16="http://schemas.microsoft.com/office/drawing/2014/main" id="{433B60DF-BA68-4BD1-862E-FF80224A6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6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g-grid-1">
            <a:extLst xmlns:a="http://schemas.openxmlformats.org/drawingml/2006/main">
              <a:ext uri="{FF2B5EF4-FFF2-40B4-BE49-F238E27FC236}">
                <a16:creationId xmlns:a16="http://schemas.microsoft.com/office/drawing/2014/main" id="{FC2A1922-02B6-43D0-9F11-C27FFE4EA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1390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E4167"/>
            </a:solidFill>
            <a:prstDash val="solid"/>
          </a:ln>
        </p:spPr>
      </p:sp>
      <p:sp>
        <p:nvSpPr>
          <p:cNvPr id="3" name="bg-grid-2">
            <a:extLst xmlns:a="http://schemas.openxmlformats.org/drawingml/2006/main">
              <a:ext uri="{FF2B5EF4-FFF2-40B4-BE49-F238E27FC236}">
                <a16:creationId xmlns:a16="http://schemas.microsoft.com/office/drawing/2014/main" id="{D17F535B-6F83-4CE3-9DE4-3C4617882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0"/>
            <a:ext cx="1390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E4167"/>
            </a:solidFill>
            <a:prstDash val="solid"/>
          </a:ln>
        </p:spPr>
      </p:sp>
      <p:sp>
        <p:nvSpPr>
          <p:cNvPr id="4" name="kicker">
            <a:extLst xmlns:a="http://schemas.openxmlformats.org/drawingml/2006/main">
              <a:ext uri="{FF2B5EF4-FFF2-40B4-BE49-F238E27FC236}">
                <a16:creationId xmlns:a16="http://schemas.microsoft.com/office/drawing/2014/main" id="{2ACC429E-0E05-47C1-98FB-429B23680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7FF"/>
                </a:solidFill>
              </a:defRPr>
            </a:pPr>
            <a:r>
              <a:rPr sz="1125" b="1">
                <a:solidFill>
                  <a:srgbClr val="25D7FF"/>
                </a:solidFill>
              </a:rPr>
              <a:t>AI VISION SORTING CONTROL ARCHITECTURE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4F2A9C3-43BF-4974-B096-47A32DF01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8FBFF"/>
                </a:solidFill>
              </a:defRPr>
            </a:pPr>
            <a:r>
              <a:rPr sz="3150" b="1">
                <a:solidFill>
                  <a:srgbClr val="F8FBFF"/>
                </a:solidFill>
              </a:rPr>
              <a:t>AI智能错分监测报警系统整体架构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13419821-A369-4191-B0B7-D9FC6AA00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9C9DC"/>
                </a:solidFill>
              </a:defRPr>
            </a:pPr>
            <a:r>
              <a:rPr sz="1425" b="0">
                <a:solidFill>
                  <a:srgbClr val="B9C9DC"/>
                </a:solidFill>
              </a:rPr>
              <a:t>现场边缘实时识别异常，PLC闭环触发声光告警；云端利用高质量样本持续训练模型并回传边缘。</a:t>
            </a:r>
          </a:p>
        </p:txBody>
      </p:sp>
      <p:sp>
        <p:nvSpPr>
          <p:cNvPr id="7" name="realtime-tag">
            <a:extLst xmlns:a="http://schemas.openxmlformats.org/drawingml/2006/main">
              <a:ext uri="{FF2B5EF4-FFF2-40B4-BE49-F238E27FC236}">
                <a16:creationId xmlns:a16="http://schemas.microsoft.com/office/drawing/2014/main" id="{01681E3F-5634-4027-A6F0-4130F4E2A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09600"/>
            <a:ext cx="2095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5C6C"/>
          </a:solidFill>
          <a:ln xmlns:a="http://schemas.openxmlformats.org/drawingml/2006/main" w="9525">
            <a:solidFill>
              <a:srgbClr val="FF5C6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BFF"/>
                </a:solidFill>
              </a:defRPr>
            </a:pPr>
            <a:r>
              <a:rPr sz="1125" b="1">
                <a:solidFill>
                  <a:srgbClr val="F8FBFF"/>
                </a:solidFill>
              </a:rPr>
              <a:t>实时告警链路不依赖云端</a:t>
            </a:r>
          </a:p>
        </p:txBody>
      </p:sp>
      <p:sp>
        <p:nvSpPr>
          <p:cNvPr id="8" name="trace-tag">
            <a:extLst xmlns:a="http://schemas.openxmlformats.org/drawingml/2006/main">
              <a:ext uri="{FF2B5EF4-FFF2-40B4-BE49-F238E27FC236}">
                <a16:creationId xmlns:a16="http://schemas.microsoft.com/office/drawing/2014/main" id="{A907AA75-9A48-420D-A062-96C58CB3B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1028700"/>
            <a:ext cx="1809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846"/>
          </a:solidFill>
          <a:ln xmlns:a="http://schemas.openxmlformats.org/drawingml/2006/main" w="9525">
            <a:solidFill>
              <a:srgbClr val="10284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D7FF"/>
                </a:solidFill>
              </a:defRPr>
            </a:pPr>
            <a:r>
              <a:rPr sz="1125" b="1">
                <a:solidFill>
                  <a:srgbClr val="25D7FF"/>
                </a:solidFill>
              </a:rPr>
              <a:t>15s前后视频追溯</a:t>
            </a:r>
          </a:p>
        </p:txBody>
      </p:sp>
      <p:sp>
        <p:nvSpPr>
          <p:cNvPr id="9" name="training-top-tag">
            <a:extLst xmlns:a="http://schemas.openxmlformats.org/drawingml/2006/main">
              <a:ext uri="{FF2B5EF4-FFF2-40B4-BE49-F238E27FC236}">
                <a16:creationId xmlns:a16="http://schemas.microsoft.com/office/drawing/2014/main" id="{390C45C5-D736-4A90-BDD7-B7BF9E85E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1028700"/>
            <a:ext cx="1809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846"/>
          </a:solidFill>
          <a:ln xmlns:a="http://schemas.openxmlformats.org/drawingml/2006/main" w="9525">
            <a:solidFill>
              <a:srgbClr val="10284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6D399"/>
                </a:solidFill>
              </a:defRPr>
            </a:pPr>
            <a:r>
              <a:rPr sz="1125" b="1">
                <a:solidFill>
                  <a:srgbClr val="36D399"/>
                </a:solidFill>
              </a:rPr>
              <a:t>云端训练持续优化模型</a:t>
            </a:r>
          </a:p>
        </p:txBody>
      </p:sp>
      <p:sp>
        <p:nvSpPr>
          <p:cNvPr id="10" name="zone-field">
            <a:extLst xmlns:a="http://schemas.openxmlformats.org/drawingml/2006/main">
              <a:ext uri="{FF2B5EF4-FFF2-40B4-BE49-F238E27FC236}">
                <a16:creationId xmlns:a16="http://schemas.microsoft.com/office/drawing/2014/main" id="{7F1540D9-AF14-44B4-AD61-6870F901D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4000500" cy="4762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A1A2E"/>
          </a:solidFill>
          <a:ln xmlns:a="http://schemas.openxmlformats.org/drawingml/2006/main" w="10478">
            <a:solidFill>
              <a:srgbClr val="24486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1" name="zone-edge">
            <a:extLst xmlns:a="http://schemas.openxmlformats.org/drawingml/2006/main">
              <a:ext uri="{FF2B5EF4-FFF2-40B4-BE49-F238E27FC236}">
                <a16:creationId xmlns:a16="http://schemas.microsoft.com/office/drawing/2014/main" id="{14391A28-8AFF-48AD-9FC8-30DD8F37E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85950"/>
            <a:ext cx="4762500" cy="476250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0B203B"/>
          </a:solidFill>
          <a:ln xmlns:a="http://schemas.openxmlformats.org/drawingml/2006/main" w="12383">
            <a:solidFill>
              <a:srgbClr val="2B6FA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2" name="zone-service">
            <a:extLst xmlns:a="http://schemas.openxmlformats.org/drawingml/2006/main">
              <a:ext uri="{FF2B5EF4-FFF2-40B4-BE49-F238E27FC236}">
                <a16:creationId xmlns:a16="http://schemas.microsoft.com/office/drawing/2014/main" id="{F28B75D3-1EA8-4440-A918-6D8FCD03E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885950"/>
            <a:ext cx="4572000" cy="4762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A1A2E"/>
          </a:solidFill>
          <a:ln xmlns:a="http://schemas.openxmlformats.org/drawingml/2006/main" w="10478">
            <a:solidFill>
              <a:srgbClr val="24486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3" name="zone1-title">
            <a:extLst xmlns:a="http://schemas.openxmlformats.org/drawingml/2006/main">
              <a:ext uri="{FF2B5EF4-FFF2-40B4-BE49-F238E27FC236}">
                <a16:creationId xmlns:a16="http://schemas.microsoft.com/office/drawing/2014/main" id="{4BA84CFB-438E-476B-A188-8609BEDAB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64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8FBFF"/>
                </a:solidFill>
              </a:defRPr>
            </a:pPr>
            <a:r>
              <a:rPr sz="1800" b="1">
                <a:solidFill>
                  <a:srgbClr val="F8FBFF"/>
                </a:solidFill>
              </a:rPr>
              <a:t>01 现场端：采集与执行</a:t>
            </a:r>
          </a:p>
        </p:txBody>
      </p:sp>
      <p:sp>
        <p:nvSpPr>
          <p:cNvPr id="14" name="zone2-title">
            <a:extLst xmlns:a="http://schemas.openxmlformats.org/drawingml/2006/main">
              <a:ext uri="{FF2B5EF4-FFF2-40B4-BE49-F238E27FC236}">
                <a16:creationId xmlns:a16="http://schemas.microsoft.com/office/drawing/2014/main" id="{391350DC-7E20-4123-A49B-103E93DEC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0764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8FBFF"/>
                </a:solidFill>
              </a:defRPr>
            </a:pPr>
            <a:r>
              <a:rPr sz="1800" b="1">
                <a:solidFill>
                  <a:srgbClr val="F8FBFF"/>
                </a:solidFill>
              </a:rPr>
              <a:t>02 边缘AI：实时分析决策</a:t>
            </a:r>
          </a:p>
        </p:txBody>
      </p:sp>
      <p:sp>
        <p:nvSpPr>
          <p:cNvPr id="15" name="zone3-title">
            <a:extLst xmlns:a="http://schemas.openxmlformats.org/drawingml/2006/main">
              <a:ext uri="{FF2B5EF4-FFF2-40B4-BE49-F238E27FC236}">
                <a16:creationId xmlns:a16="http://schemas.microsoft.com/office/drawing/2014/main" id="{8F741E63-E7BC-4FCB-9803-F3DF77567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0764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8FBFF"/>
                </a:solidFill>
              </a:defRPr>
            </a:pPr>
            <a:r>
              <a:rPr sz="1800" b="1">
                <a:solidFill>
                  <a:srgbClr val="F8FBFF"/>
                </a:solidFill>
              </a:rPr>
              <a:t>03 管理端：追溯与展示</a:t>
            </a:r>
          </a:p>
        </p:txBody>
      </p:sp>
      <p:sp>
        <p:nvSpPr>
          <p:cNvPr id="16" name="camera-card">
            <a:extLst xmlns:a="http://schemas.openxmlformats.org/drawingml/2006/main">
              <a:ext uri="{FF2B5EF4-FFF2-40B4-BE49-F238E27FC236}">
                <a16:creationId xmlns:a16="http://schemas.microsoft.com/office/drawing/2014/main" id="{E2E4AD53-DC92-4E0D-907E-3699A3740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19375"/>
            <a:ext cx="314325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0233D"/>
          </a:solidFill>
          <a:ln xmlns:a="http://schemas.openxmlformats.org/drawingml/2006/main" w="11430">
            <a:solidFill>
              <a:srgbClr val="2F5E8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7" name="camera-accent">
            <a:extLst xmlns:a="http://schemas.openxmlformats.org/drawingml/2006/main">
              <a:ext uri="{FF2B5EF4-FFF2-40B4-BE49-F238E27FC236}">
                <a16:creationId xmlns:a16="http://schemas.microsoft.com/office/drawing/2014/main" id="{38EE2176-6847-406D-8C04-D4C052E02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19375"/>
            <a:ext cx="66675" cy="12001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amera-title">
            <a:extLst xmlns:a="http://schemas.openxmlformats.org/drawingml/2006/main">
              <a:ext uri="{FF2B5EF4-FFF2-40B4-BE49-F238E27FC236}">
                <a16:creationId xmlns:a16="http://schemas.microsoft.com/office/drawing/2014/main" id="{82CCD6B7-4370-4EF4-BC31-6C76047B0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7622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BFF"/>
                </a:solidFill>
              </a:defRPr>
            </a:pPr>
            <a:r>
              <a:rPr sz="1650" b="1">
                <a:solidFill>
                  <a:srgbClr val="F8FBFF"/>
                </a:solidFill>
              </a:rPr>
              <a:t>工业相机</a:t>
            </a:r>
          </a:p>
        </p:txBody>
      </p:sp>
      <p:sp>
        <p:nvSpPr>
          <p:cNvPr id="19" name="camera-body">
            <a:extLst xmlns:a="http://schemas.openxmlformats.org/drawingml/2006/main">
              <a:ext uri="{FF2B5EF4-FFF2-40B4-BE49-F238E27FC236}">
                <a16:creationId xmlns:a16="http://schemas.microsoft.com/office/drawing/2014/main" id="{4790063F-F3FF-4820-A73B-8F8C7DF84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095625"/>
            <a:ext cx="276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B9C9DC"/>
                </a:solidFill>
              </a:defRPr>
            </a:pPr>
            <a:r>
              <a:rPr sz="1163" b="0">
                <a:solidFill>
                  <a:srgbClr val="B9C9DC"/>
                </a:solidFill>
              </a:rPr>
              <a:t>顶部俯拍覆盖4个格口</a:t>
            </a:r>
          </a:p>
          <a:p xmlns:a="http://schemas.openxmlformats.org/drawingml/2006/main">
            <a:pPr algn="l">
              <a:defRPr sz="1163" b="0">
                <a:solidFill>
                  <a:srgbClr val="B9C9DC"/>
                </a:solidFill>
              </a:defRPr>
            </a:pPr>
            <a:r>
              <a:rPr sz="1163" b="0">
                <a:solidFill>
                  <a:srgbClr val="B9C9DC"/>
                </a:solidFill>
              </a:rPr>
              <a:t>RTSP/GigE视频流</a:t>
            </a:r>
          </a:p>
          <a:p xmlns:a="http://schemas.openxmlformats.org/drawingml/2006/main">
            <a:pPr algn="l">
              <a:defRPr sz="1163" b="0">
                <a:solidFill>
                  <a:srgbClr val="B9C9DC"/>
                </a:solidFill>
              </a:defRPr>
            </a:pPr>
            <a:r>
              <a:rPr sz="1163" b="0">
                <a:solidFill>
                  <a:srgbClr val="B9C9DC"/>
                </a:solidFill>
              </a:rPr>
              <a:t>固定曝光、补光、抗频闪</a:t>
            </a:r>
          </a:p>
        </p:txBody>
      </p:sp>
      <p:sp>
        <p:nvSpPr>
          <p:cNvPr id="20" name="sorter-card">
            <a:extLst xmlns:a="http://schemas.openxmlformats.org/drawingml/2006/main">
              <a:ext uri="{FF2B5EF4-FFF2-40B4-BE49-F238E27FC236}">
                <a16:creationId xmlns:a16="http://schemas.microsoft.com/office/drawing/2014/main" id="{7E078067-B21D-41B3-9C2A-CAEEBF23B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95750"/>
            <a:ext cx="3143250" cy="110490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10233D"/>
          </a:solidFill>
          <a:ln xmlns:a="http://schemas.openxmlformats.org/drawingml/2006/main" w="11430">
            <a:solidFill>
              <a:srgbClr val="2F5E8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21" name="sorter-accent">
            <a:extLst xmlns:a="http://schemas.openxmlformats.org/drawingml/2006/main">
              <a:ext uri="{FF2B5EF4-FFF2-40B4-BE49-F238E27FC236}">
                <a16:creationId xmlns:a16="http://schemas.microsoft.com/office/drawing/2014/main" id="{A8F8B3E1-E325-44E6-ADDE-439187939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95750"/>
            <a:ext cx="66675" cy="11049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6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orter-title">
            <a:extLst xmlns:a="http://schemas.openxmlformats.org/drawingml/2006/main">
              <a:ext uri="{FF2B5EF4-FFF2-40B4-BE49-F238E27FC236}">
                <a16:creationId xmlns:a16="http://schemas.microsoft.com/office/drawing/2014/main" id="{84861256-29EC-4A10-8B62-3D3AE7212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23862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BFF"/>
                </a:solidFill>
              </a:defRPr>
            </a:pPr>
            <a:r>
              <a:rPr sz="1650" b="1">
                <a:solidFill>
                  <a:srgbClr val="F8FBFF"/>
                </a:solidFill>
              </a:rPr>
              <a:t>分拣机 / 抽屉 / 格口</a:t>
            </a:r>
          </a:p>
        </p:txBody>
      </p:sp>
      <p:sp>
        <p:nvSpPr>
          <p:cNvPr id="23" name="sorter-body">
            <a:extLst xmlns:a="http://schemas.openxmlformats.org/drawingml/2006/main">
              <a:ext uri="{FF2B5EF4-FFF2-40B4-BE49-F238E27FC236}">
                <a16:creationId xmlns:a16="http://schemas.microsoft.com/office/drawing/2014/main" id="{11245436-3217-40A1-805E-8A57333D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572000"/>
            <a:ext cx="276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B9C9DC"/>
                </a:solidFill>
              </a:defRPr>
            </a:pPr>
            <a:r>
              <a:rPr sz="1163" b="0">
                <a:solidFill>
                  <a:srgbClr val="B9C9DC"/>
                </a:solidFill>
              </a:rPr>
              <a:t>承载包裹运动与落格过程</a:t>
            </a:r>
          </a:p>
          <a:p xmlns:a="http://schemas.openxmlformats.org/drawingml/2006/main">
            <a:pPr algn="l">
              <a:defRPr sz="1163" b="0">
                <a:solidFill>
                  <a:srgbClr val="B9C9DC"/>
                </a:solidFill>
              </a:defRPr>
            </a:pPr>
            <a:r>
              <a:rPr sz="1163" b="0">
                <a:solidFill>
                  <a:srgbClr val="B9C9DC"/>
                </a:solidFill>
              </a:rPr>
              <a:t>需要识别开门、滑落、滞留、偏移</a:t>
            </a:r>
          </a:p>
        </p:txBody>
      </p:sp>
      <p:sp>
        <p:nvSpPr>
          <p:cNvPr id="24" name="plc-card">
            <a:extLst xmlns:a="http://schemas.openxmlformats.org/drawingml/2006/main">
              <a:ext uri="{FF2B5EF4-FFF2-40B4-BE49-F238E27FC236}">
                <a16:creationId xmlns:a16="http://schemas.microsoft.com/office/drawing/2014/main" id="{42406204-B14F-4B98-B096-88B2F5FAA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76875"/>
            <a:ext cx="3143250" cy="914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0233D"/>
          </a:solidFill>
          <a:ln xmlns:a="http://schemas.openxmlformats.org/drawingml/2006/main" w="11430">
            <a:solidFill>
              <a:srgbClr val="2F5E8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25" name="plc-accent">
            <a:extLst xmlns:a="http://schemas.openxmlformats.org/drawingml/2006/main">
              <a:ext uri="{FF2B5EF4-FFF2-40B4-BE49-F238E27FC236}">
                <a16:creationId xmlns:a16="http://schemas.microsoft.com/office/drawing/2014/main" id="{C6EC109A-25D7-4ABD-B448-FD73DD81C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76875"/>
            <a:ext cx="66675" cy="9144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36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lc-title">
            <a:extLst xmlns:a="http://schemas.openxmlformats.org/drawingml/2006/main">
              <a:ext uri="{FF2B5EF4-FFF2-40B4-BE49-F238E27FC236}">
                <a16:creationId xmlns:a16="http://schemas.microsoft.com/office/drawing/2014/main" id="{B20D947C-B4E5-4EF0-A160-5AC8DD337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6197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BFF"/>
                </a:solidFill>
              </a:defRPr>
            </a:pPr>
            <a:r>
              <a:rPr sz="1650" b="1">
                <a:solidFill>
                  <a:srgbClr val="F8FBFF"/>
                </a:solidFill>
              </a:rPr>
              <a:t>PLC控制柜</a:t>
            </a:r>
          </a:p>
        </p:txBody>
      </p:sp>
      <p:sp>
        <p:nvSpPr>
          <p:cNvPr id="27" name="plc-body">
            <a:extLst xmlns:a="http://schemas.openxmlformats.org/drawingml/2006/main">
              <a:ext uri="{FF2B5EF4-FFF2-40B4-BE49-F238E27FC236}">
                <a16:creationId xmlns:a16="http://schemas.microsoft.com/office/drawing/2014/main" id="{51A4FC9B-FD89-4C19-901D-DA9AA5DF3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953125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B9C9DC"/>
                </a:solidFill>
              </a:defRPr>
            </a:pPr>
            <a:r>
              <a:rPr sz="1163" b="0">
                <a:solidFill>
                  <a:srgbClr val="B9C9DC"/>
                </a:solidFill>
              </a:rPr>
              <a:t>读取皮带、闸门、格口状态</a:t>
            </a:r>
          </a:p>
          <a:p xmlns:a="http://schemas.openxmlformats.org/drawingml/2006/main">
            <a:pPr algn="l">
              <a:defRPr sz="1163" b="0">
                <a:solidFill>
                  <a:srgbClr val="B9C9DC"/>
                </a:solidFill>
              </a:defRPr>
            </a:pPr>
            <a:r>
              <a:rPr sz="1163" b="0">
                <a:solidFill>
                  <a:srgbClr val="B9C9DC"/>
                </a:solidFill>
              </a:rPr>
              <a:t>接收异常指令并控制声光设备</a:t>
            </a:r>
          </a:p>
        </p:txBody>
      </p:sp>
      <p:sp>
        <p:nvSpPr>
          <p:cNvPr id="28" name="edge-core-card">
            <a:extLst xmlns:a="http://schemas.openxmlformats.org/drawingml/2006/main">
              <a:ext uri="{FF2B5EF4-FFF2-40B4-BE49-F238E27FC236}">
                <a16:creationId xmlns:a16="http://schemas.microsoft.com/office/drawing/2014/main" id="{8932C2E8-1346-4583-93CB-F983A9AF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647950"/>
            <a:ext cx="3905250" cy="2428875"/>
          </a:xfrm>
          <a:prstGeom xmlns:a="http://schemas.openxmlformats.org/drawingml/2006/main" prst="roundRect">
            <a:avLst>
              <a:gd name="adj" fmla="val 8627"/>
            </a:avLst>
          </a:prstGeom>
          <a:solidFill xmlns:a="http://schemas.openxmlformats.org/drawingml/2006/main">
            <a:srgbClr val="112D50"/>
          </a:solidFill>
          <a:ln xmlns:a="http://schemas.openxmlformats.org/drawingml/2006/main" w="15240">
            <a:solidFill>
              <a:srgbClr val="4DB5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29" name="edge-core-title">
            <a:extLst xmlns:a="http://schemas.openxmlformats.org/drawingml/2006/main">
              <a:ext uri="{FF2B5EF4-FFF2-40B4-BE49-F238E27FC236}">
                <a16:creationId xmlns:a16="http://schemas.microsoft.com/office/drawing/2014/main" id="{E7757367-7C98-401E-AE60-B6613C6F3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88607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8FBFF"/>
                </a:solidFill>
              </a:defRPr>
            </a:pPr>
            <a:r>
              <a:rPr sz="2100" b="1">
                <a:solidFill>
                  <a:srgbClr val="F8FBFF"/>
                </a:solidFill>
              </a:rPr>
              <a:t>边缘AI工控机 / GPU IPC</a:t>
            </a:r>
          </a:p>
        </p:txBody>
      </p:sp>
      <p:sp>
        <p:nvSpPr>
          <p:cNvPr id="30" name="edge-core-body">
            <a:extLst xmlns:a="http://schemas.openxmlformats.org/drawingml/2006/main">
              <a:ext uri="{FF2B5EF4-FFF2-40B4-BE49-F238E27FC236}">
                <a16:creationId xmlns:a16="http://schemas.microsoft.com/office/drawing/2014/main" id="{E2A7EE20-6369-4315-B8A4-A96BB7960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3371850"/>
            <a:ext cx="319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B9C9DC"/>
                </a:solidFill>
              </a:defRPr>
            </a:pPr>
            <a:r>
              <a:rPr sz="1350" b="0">
                <a:solidFill>
                  <a:srgbClr val="B9C9DC"/>
                </a:solidFill>
              </a:rPr>
              <a:t>实时视频解码  ·  包裹/闸门/格口识别</a:t>
            </a:r>
          </a:p>
          <a:p xmlns:a="http://schemas.openxmlformats.org/drawingml/2006/main">
            <a:pPr algn="ctr">
              <a:defRPr sz="1350" b="0">
                <a:solidFill>
                  <a:srgbClr val="B9C9DC"/>
                </a:solidFill>
              </a:defRPr>
            </a:pPr>
            <a:r>
              <a:rPr sz="1350" b="0">
                <a:solidFill>
                  <a:srgbClr val="B9C9DC"/>
                </a:solidFill>
              </a:rPr>
              <a:t>轨迹跟踪  ·  开门未落判断  ·  滑落异常判断</a:t>
            </a:r>
          </a:p>
          <a:p xmlns:a="http://schemas.openxmlformats.org/drawingml/2006/main">
            <a:pPr algn="ctr">
              <a:defRPr sz="1350" b="0">
                <a:solidFill>
                  <a:srgbClr val="B9C9DC"/>
                </a:solidFill>
              </a:defRPr>
            </a:pPr>
            <a:r>
              <a:rPr sz="1350" b="0">
                <a:solidFill>
                  <a:srgbClr val="B9C9DC"/>
                </a:solidFill>
              </a:rPr>
              <a:t>本地缓存  ·  断网可运行  ·  毫秒级触发告警</a:t>
            </a:r>
          </a:p>
        </p:txBody>
      </p:sp>
      <p:sp>
        <p:nvSpPr>
          <p:cNvPr id="31" name="edge-sla-tag">
            <a:extLst xmlns:a="http://schemas.openxmlformats.org/drawingml/2006/main">
              <a:ext uri="{FF2B5EF4-FFF2-40B4-BE49-F238E27FC236}">
                <a16:creationId xmlns:a16="http://schemas.microsoft.com/office/drawing/2014/main" id="{9805D8A9-D2AF-4466-9726-41320305B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419600"/>
            <a:ext cx="18859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5C6C"/>
          </a:solidFill>
          <a:ln xmlns:a="http://schemas.openxmlformats.org/drawingml/2006/main" w="9525">
            <a:solidFill>
              <a:srgbClr val="FF5C6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BFF"/>
                </a:solidFill>
              </a:defRPr>
            </a:pPr>
            <a:r>
              <a:rPr sz="1125" b="1">
                <a:solidFill>
                  <a:srgbClr val="F8FBFF"/>
                </a:solidFill>
              </a:rPr>
              <a:t>端到端告警 &lt; 1s</a:t>
            </a:r>
          </a:p>
        </p:txBody>
      </p:sp>
      <p:sp>
        <p:nvSpPr>
          <p:cNvPr id="32" name="rules-card">
            <a:extLst xmlns:a="http://schemas.openxmlformats.org/drawingml/2006/main">
              <a:ext uri="{FF2B5EF4-FFF2-40B4-BE49-F238E27FC236}">
                <a16:creationId xmlns:a16="http://schemas.microsoft.com/office/drawing/2014/main" id="{DEF567B4-1EBA-4D03-960F-E4C851D79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353050"/>
            <a:ext cx="184785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10233D"/>
          </a:solidFill>
          <a:ln xmlns:a="http://schemas.openxmlformats.org/drawingml/2006/main" w="11430">
            <a:solidFill>
              <a:srgbClr val="2F5E8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33" name="rules-accent">
            <a:extLst xmlns:a="http://schemas.openxmlformats.org/drawingml/2006/main">
              <a:ext uri="{FF2B5EF4-FFF2-40B4-BE49-F238E27FC236}">
                <a16:creationId xmlns:a16="http://schemas.microsoft.com/office/drawing/2014/main" id="{2B86B32F-56F3-4FD5-9E35-C3C98037B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353050"/>
            <a:ext cx="66675" cy="9906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5C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rules-title">
            <a:extLst xmlns:a="http://schemas.openxmlformats.org/drawingml/2006/main">
              <a:ext uri="{FF2B5EF4-FFF2-40B4-BE49-F238E27FC236}">
                <a16:creationId xmlns:a16="http://schemas.microsoft.com/office/drawing/2014/main" id="{113909A5-D3FC-4484-B8ED-BEFE2F8A2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5495925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BFF"/>
                </a:solidFill>
              </a:defRPr>
            </a:pPr>
            <a:r>
              <a:rPr sz="1650" b="1">
                <a:solidFill>
                  <a:srgbClr val="F8FBFF"/>
                </a:solidFill>
              </a:rPr>
              <a:t>异常识别逻辑</a:t>
            </a:r>
          </a:p>
        </p:txBody>
      </p:sp>
      <p:sp>
        <p:nvSpPr>
          <p:cNvPr id="35" name="rules-body">
            <a:extLst xmlns:a="http://schemas.openxmlformats.org/drawingml/2006/main">
              <a:ext uri="{FF2B5EF4-FFF2-40B4-BE49-F238E27FC236}">
                <a16:creationId xmlns:a16="http://schemas.microsoft.com/office/drawing/2014/main" id="{563AED85-EB24-4684-A301-4D238FCF5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5829300"/>
            <a:ext cx="1466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B9C9DC"/>
                </a:solidFill>
              </a:defRPr>
            </a:pPr>
            <a:r>
              <a:rPr sz="1163" b="0">
                <a:solidFill>
                  <a:srgbClr val="B9C9DC"/>
                </a:solidFill>
              </a:rPr>
              <a:t>飘格 / 一车两件</a:t>
            </a:r>
          </a:p>
          <a:p xmlns:a="http://schemas.openxmlformats.org/drawingml/2006/main">
            <a:pPr algn="l">
              <a:defRPr sz="1163" b="0">
                <a:solidFill>
                  <a:srgbClr val="B9C9DC"/>
                </a:solidFill>
              </a:defRPr>
            </a:pPr>
            <a:r>
              <a:rPr sz="1163" b="0">
                <a:solidFill>
                  <a:srgbClr val="B9C9DC"/>
                </a:solidFill>
              </a:rPr>
              <a:t>开门未落 / 滑歪</a:t>
            </a:r>
          </a:p>
          <a:p xmlns:a="http://schemas.openxmlformats.org/drawingml/2006/main">
            <a:pPr algn="l">
              <a:defRPr sz="1163" b="0">
                <a:solidFill>
                  <a:srgbClr val="B9C9DC"/>
                </a:solidFill>
              </a:defRPr>
            </a:pPr>
            <a:r>
              <a:rPr sz="1163" b="0">
                <a:solidFill>
                  <a:srgbClr val="B9C9DC"/>
                </a:solidFill>
              </a:rPr>
              <a:t>滞留 / 误落 / 失速</a:t>
            </a:r>
          </a:p>
        </p:txBody>
      </p:sp>
      <p:sp>
        <p:nvSpPr>
          <p:cNvPr id="36" name="cache-card">
            <a:extLst xmlns:a="http://schemas.openxmlformats.org/drawingml/2006/main">
              <a:ext uri="{FF2B5EF4-FFF2-40B4-BE49-F238E27FC236}">
                <a16:creationId xmlns:a16="http://schemas.microsoft.com/office/drawing/2014/main" id="{56720C82-C802-48E6-923E-A9416DE49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5353050"/>
            <a:ext cx="184785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10233D"/>
          </a:solidFill>
          <a:ln xmlns:a="http://schemas.openxmlformats.org/drawingml/2006/main" w="11430">
            <a:solidFill>
              <a:srgbClr val="2F5E8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37" name="cache-accent">
            <a:extLst xmlns:a="http://schemas.openxmlformats.org/drawingml/2006/main">
              <a:ext uri="{FF2B5EF4-FFF2-40B4-BE49-F238E27FC236}">
                <a16:creationId xmlns:a16="http://schemas.microsoft.com/office/drawing/2014/main" id="{B8DD9862-72AE-4026-95EB-78132528A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5353050"/>
            <a:ext cx="66675" cy="9906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cache-title">
            <a:extLst xmlns:a="http://schemas.openxmlformats.org/drawingml/2006/main">
              <a:ext uri="{FF2B5EF4-FFF2-40B4-BE49-F238E27FC236}">
                <a16:creationId xmlns:a16="http://schemas.microsoft.com/office/drawing/2014/main" id="{5F15B3B5-9EE4-4839-AF07-86CA367F7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5495925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BFF"/>
                </a:solidFill>
              </a:defRPr>
            </a:pPr>
            <a:r>
              <a:rPr sz="1650" b="1">
                <a:solidFill>
                  <a:srgbClr val="F8FBFF"/>
                </a:solidFill>
              </a:rPr>
              <a:t>本地缓存</a:t>
            </a:r>
          </a:p>
        </p:txBody>
      </p:sp>
      <p:sp>
        <p:nvSpPr>
          <p:cNvPr id="39" name="cache-body">
            <a:extLst xmlns:a="http://schemas.openxmlformats.org/drawingml/2006/main">
              <a:ext uri="{FF2B5EF4-FFF2-40B4-BE49-F238E27FC236}">
                <a16:creationId xmlns:a16="http://schemas.microsoft.com/office/drawing/2014/main" id="{962532BF-9C4D-4141-8464-3AE6A7A1C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5829300"/>
            <a:ext cx="1466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B9C9DC"/>
                </a:solidFill>
              </a:defRPr>
            </a:pPr>
            <a:r>
              <a:rPr sz="1163" b="0">
                <a:solidFill>
                  <a:srgbClr val="B9C9DC"/>
                </a:solidFill>
              </a:rPr>
              <a:t>落格前存图</a:t>
            </a:r>
          </a:p>
          <a:p xmlns:a="http://schemas.openxmlformats.org/drawingml/2006/main">
            <a:pPr algn="l">
              <a:defRPr sz="1163" b="0">
                <a:solidFill>
                  <a:srgbClr val="B9C9DC"/>
                </a:solidFill>
              </a:defRPr>
            </a:pPr>
            <a:r>
              <a:rPr sz="1163" b="0">
                <a:solidFill>
                  <a:srgbClr val="B9C9DC"/>
                </a:solidFill>
              </a:rPr>
              <a:t>前15s+后15s视频片段</a:t>
            </a:r>
          </a:p>
        </p:txBody>
      </p:sp>
      <p:sp>
        <p:nvSpPr>
          <p:cNvPr id="40" name="server-card">
            <a:extLst xmlns:a="http://schemas.openxmlformats.org/drawingml/2006/main">
              <a:ext uri="{FF2B5EF4-FFF2-40B4-BE49-F238E27FC236}">
                <a16:creationId xmlns:a16="http://schemas.microsoft.com/office/drawing/2014/main" id="{7BDF8C9E-F8D2-4288-A7FA-7E6874AA3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47950"/>
            <a:ext cx="3619500" cy="10858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0233D"/>
          </a:solidFill>
          <a:ln xmlns:a="http://schemas.openxmlformats.org/drawingml/2006/main" w="11430">
            <a:solidFill>
              <a:srgbClr val="2F5E8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41" name="server-accent">
            <a:extLst xmlns:a="http://schemas.openxmlformats.org/drawingml/2006/main">
              <a:ext uri="{FF2B5EF4-FFF2-40B4-BE49-F238E27FC236}">
                <a16:creationId xmlns:a16="http://schemas.microsoft.com/office/drawing/2014/main" id="{60DEAC40-C425-4B70-B790-80F9FCE9D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47950"/>
            <a:ext cx="66675" cy="10858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32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server-title">
            <a:extLst xmlns:a="http://schemas.openxmlformats.org/drawingml/2006/main">
              <a:ext uri="{FF2B5EF4-FFF2-40B4-BE49-F238E27FC236}">
                <a16:creationId xmlns:a16="http://schemas.microsoft.com/office/drawing/2014/main" id="{5066A889-CEE9-4178-A852-B61D8FEC0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790825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BFF"/>
                </a:solidFill>
              </a:defRPr>
            </a:pPr>
            <a:r>
              <a:rPr sz="1650" b="1">
                <a:solidFill>
                  <a:srgbClr val="F8FBFF"/>
                </a:solidFill>
              </a:rPr>
              <a:t>业务管理服务器</a:t>
            </a:r>
          </a:p>
        </p:txBody>
      </p:sp>
      <p:sp>
        <p:nvSpPr>
          <p:cNvPr id="43" name="server-body">
            <a:extLst xmlns:a="http://schemas.openxmlformats.org/drawingml/2006/main">
              <a:ext uri="{FF2B5EF4-FFF2-40B4-BE49-F238E27FC236}">
                <a16:creationId xmlns:a16="http://schemas.microsoft.com/office/drawing/2014/main" id="{AAA93152-3A95-4698-94AE-AD218CD93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12420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B9C9DC"/>
                </a:solidFill>
              </a:defRPr>
            </a:pPr>
            <a:r>
              <a:rPr sz="1163" b="0">
                <a:solidFill>
                  <a:srgbClr val="B9C9DC"/>
                </a:solidFill>
              </a:rPr>
              <a:t>事件存储 ≥30天</a:t>
            </a:r>
          </a:p>
          <a:p xmlns:a="http://schemas.openxmlformats.org/drawingml/2006/main">
            <a:pPr algn="l">
              <a:defRPr sz="1163" b="0">
                <a:solidFill>
                  <a:srgbClr val="B9C9DC"/>
                </a:solidFill>
              </a:defRPr>
            </a:pPr>
            <a:r>
              <a:rPr sz="1163" b="0">
                <a:solidFill>
                  <a:srgbClr val="B9C9DC"/>
                </a:solidFill>
              </a:rPr>
              <a:t>接口服务 / 报表统计 / 模型版本管理</a:t>
            </a:r>
          </a:p>
        </p:txBody>
      </p:sp>
      <p:sp>
        <p:nvSpPr>
          <p:cNvPr id="44" name="cloud-card">
            <a:extLst xmlns:a="http://schemas.openxmlformats.org/drawingml/2006/main">
              <a:ext uri="{FF2B5EF4-FFF2-40B4-BE49-F238E27FC236}">
                <a16:creationId xmlns:a16="http://schemas.microsoft.com/office/drawing/2014/main" id="{000DBDA0-625F-4683-95C9-81BA32EA9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848100"/>
            <a:ext cx="36195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10233D"/>
          </a:solidFill>
          <a:ln xmlns:a="http://schemas.openxmlformats.org/drawingml/2006/main" w="11430">
            <a:solidFill>
              <a:srgbClr val="2F5E8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45" name="cloud-accent">
            <a:extLst xmlns:a="http://schemas.openxmlformats.org/drawingml/2006/main">
              <a:ext uri="{FF2B5EF4-FFF2-40B4-BE49-F238E27FC236}">
                <a16:creationId xmlns:a16="http://schemas.microsoft.com/office/drawing/2014/main" id="{C2D09D93-F9F3-472B-8820-E9F73B451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848100"/>
            <a:ext cx="66675" cy="8953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6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cloud-title">
            <a:extLst xmlns:a="http://schemas.openxmlformats.org/drawingml/2006/main">
              <a:ext uri="{FF2B5EF4-FFF2-40B4-BE49-F238E27FC236}">
                <a16:creationId xmlns:a16="http://schemas.microsoft.com/office/drawing/2014/main" id="{5264AEDF-6192-4B51-B645-7EB6A893F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990975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BFF"/>
                </a:solidFill>
              </a:defRPr>
            </a:pPr>
            <a:r>
              <a:rPr sz="1650" b="1">
                <a:solidFill>
                  <a:srgbClr val="F8FBFF"/>
                </a:solidFill>
              </a:rPr>
              <a:t>云端模型训练平台</a:t>
            </a:r>
          </a:p>
        </p:txBody>
      </p:sp>
      <p:sp>
        <p:nvSpPr>
          <p:cNvPr id="47" name="cloud-body">
            <a:extLst xmlns:a="http://schemas.openxmlformats.org/drawingml/2006/main">
              <a:ext uri="{FF2B5EF4-FFF2-40B4-BE49-F238E27FC236}">
                <a16:creationId xmlns:a16="http://schemas.microsoft.com/office/drawing/2014/main" id="{73A5F0E8-241B-417D-B04F-2C3E2D0ED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3243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B9C9DC"/>
                </a:solidFill>
              </a:defRPr>
            </a:pPr>
            <a:r>
              <a:rPr sz="1163" b="0">
                <a:solidFill>
                  <a:srgbClr val="B9C9DC"/>
                </a:solidFill>
              </a:rPr>
              <a:t>汇聚现场视频与手机高质量样本</a:t>
            </a:r>
          </a:p>
          <a:p xmlns:a="http://schemas.openxmlformats.org/drawingml/2006/main">
            <a:pPr algn="l">
              <a:defRPr sz="1163" b="0">
                <a:solidFill>
                  <a:srgbClr val="B9C9DC"/>
                </a:solidFill>
              </a:defRPr>
            </a:pPr>
            <a:r>
              <a:rPr sz="1163" b="0">
                <a:solidFill>
                  <a:srgbClr val="B9C9DC"/>
                </a:solidFill>
              </a:rPr>
              <a:t>标注、训练、评测，形成新模型版本</a:t>
            </a:r>
          </a:p>
        </p:txBody>
      </p:sp>
      <p:sp>
        <p:nvSpPr>
          <p:cNvPr id="48" name="wcs-card">
            <a:extLst xmlns:a="http://schemas.openxmlformats.org/drawingml/2006/main">
              <a:ext uri="{FF2B5EF4-FFF2-40B4-BE49-F238E27FC236}">
                <a16:creationId xmlns:a16="http://schemas.microsoft.com/office/drawing/2014/main" id="{2CBAE8B3-3D2C-4047-B4C1-D4F6D6199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972050"/>
            <a:ext cx="3619500" cy="8382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10233D"/>
          </a:solidFill>
          <a:ln xmlns:a="http://schemas.openxmlformats.org/drawingml/2006/main" w="11430">
            <a:solidFill>
              <a:srgbClr val="2F5E8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49" name="wcs-accent">
            <a:extLst xmlns:a="http://schemas.openxmlformats.org/drawingml/2006/main">
              <a:ext uri="{FF2B5EF4-FFF2-40B4-BE49-F238E27FC236}">
                <a16:creationId xmlns:a16="http://schemas.microsoft.com/office/drawing/2014/main" id="{95CD1A54-CBD4-4D34-B658-3BF73EA85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972050"/>
            <a:ext cx="66675" cy="8382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36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wcs-title">
            <a:extLst xmlns:a="http://schemas.openxmlformats.org/drawingml/2006/main">
              <a:ext uri="{FF2B5EF4-FFF2-40B4-BE49-F238E27FC236}">
                <a16:creationId xmlns:a16="http://schemas.microsoft.com/office/drawing/2014/main" id="{5C1E8AB7-CE3C-4C9D-AD6D-2969593E1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14925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BFF"/>
                </a:solidFill>
              </a:defRPr>
            </a:pPr>
            <a:r>
              <a:rPr sz="1650" b="1">
                <a:solidFill>
                  <a:srgbClr val="F8FBFF"/>
                </a:solidFill>
              </a:rPr>
              <a:t>WCS / 业务数据</a:t>
            </a:r>
          </a:p>
        </p:txBody>
      </p:sp>
      <p:sp>
        <p:nvSpPr>
          <p:cNvPr id="51" name="wcs-body">
            <a:extLst xmlns:a="http://schemas.openxmlformats.org/drawingml/2006/main">
              <a:ext uri="{FF2B5EF4-FFF2-40B4-BE49-F238E27FC236}">
                <a16:creationId xmlns:a16="http://schemas.microsoft.com/office/drawing/2014/main" id="{403A3B05-EF7D-48C8-B1D4-78132348A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4483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B9C9DC"/>
                </a:solidFill>
              </a:defRPr>
            </a:pPr>
            <a:r>
              <a:rPr sz="1163" b="0">
                <a:solidFill>
                  <a:srgbClr val="B9C9DC"/>
                </a:solidFill>
              </a:rPr>
              <a:t>运单号、目标格口、集包袋绑定</a:t>
            </a:r>
          </a:p>
          <a:p xmlns:a="http://schemas.openxmlformats.org/drawingml/2006/main">
            <a:pPr algn="l">
              <a:defRPr sz="1163" b="0">
                <a:solidFill>
                  <a:srgbClr val="B9C9DC"/>
                </a:solidFill>
              </a:defRPr>
            </a:pPr>
            <a:r>
              <a:rPr sz="1163" b="0">
                <a:solidFill>
                  <a:srgbClr val="B9C9DC"/>
                </a:solidFill>
              </a:rPr>
              <a:t>用于判断“应落哪里、实际落哪里”</a:t>
            </a:r>
          </a:p>
        </p:txBody>
      </p:sp>
      <p:sp>
        <p:nvSpPr>
          <p:cNvPr id="52" name="display-card">
            <a:extLst xmlns:a="http://schemas.openxmlformats.org/drawingml/2006/main">
              <a:ext uri="{FF2B5EF4-FFF2-40B4-BE49-F238E27FC236}">
                <a16:creationId xmlns:a16="http://schemas.microsoft.com/office/drawing/2014/main" id="{00F5A4CC-5830-4619-84D7-64573E27D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019800"/>
            <a:ext cx="3619500" cy="762000"/>
          </a:xfrm>
          <a:prstGeom xmlns:a="http://schemas.openxmlformats.org/drawingml/2006/main" prst="roundRect">
            <a:avLst>
              <a:gd name="adj" fmla="val 22500"/>
            </a:avLst>
          </a:prstGeom>
          <a:solidFill xmlns:a="http://schemas.openxmlformats.org/drawingml/2006/main">
            <a:srgbClr val="10233D"/>
          </a:solidFill>
          <a:ln xmlns:a="http://schemas.openxmlformats.org/drawingml/2006/main" w="11430">
            <a:solidFill>
              <a:srgbClr val="2F5E8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53" name="display-accent">
            <a:extLst xmlns:a="http://schemas.openxmlformats.org/drawingml/2006/main">
              <a:ext uri="{FF2B5EF4-FFF2-40B4-BE49-F238E27FC236}">
                <a16:creationId xmlns:a16="http://schemas.microsoft.com/office/drawing/2014/main" id="{C74AD543-541A-46ED-B7DA-3A23B50B1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019800"/>
            <a:ext cx="66675" cy="7620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display-title">
            <a:extLst xmlns:a="http://schemas.openxmlformats.org/drawingml/2006/main">
              <a:ext uri="{FF2B5EF4-FFF2-40B4-BE49-F238E27FC236}">
                <a16:creationId xmlns:a16="http://schemas.microsoft.com/office/drawing/2014/main" id="{055A7C3F-A1B0-4ADB-8BFE-21204E575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162675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BFF"/>
                </a:solidFill>
              </a:defRPr>
            </a:pPr>
            <a:r>
              <a:rPr sz="1650" b="1">
                <a:solidFill>
                  <a:srgbClr val="F8FBFF"/>
                </a:solidFill>
              </a:rPr>
              <a:t>大屏 / 移动App</a:t>
            </a:r>
          </a:p>
        </p:txBody>
      </p:sp>
      <p:sp>
        <p:nvSpPr>
          <p:cNvPr id="55" name="display-body">
            <a:extLst xmlns:a="http://schemas.openxmlformats.org/drawingml/2006/main">
              <a:ext uri="{FF2B5EF4-FFF2-40B4-BE49-F238E27FC236}">
                <a16:creationId xmlns:a16="http://schemas.microsoft.com/office/drawing/2014/main" id="{5875C12D-FC26-4688-AF8E-F4365075B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9605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B9C9DC"/>
                </a:solidFill>
              </a:defRPr>
            </a:pPr>
            <a:r>
              <a:rPr sz="1163" b="0">
                <a:solidFill>
                  <a:srgbClr val="B9C9DC"/>
                </a:solidFill>
              </a:rPr>
              <a:t>异常弹窗、格口定位、视频回放</a:t>
            </a:r>
          </a:p>
          <a:p xmlns:a="http://schemas.openxmlformats.org/drawingml/2006/main">
            <a:pPr algn="l">
              <a:defRPr sz="1163" b="0">
                <a:solidFill>
                  <a:srgbClr val="B9C9DC"/>
                </a:solidFill>
              </a:defRPr>
            </a:pPr>
            <a:r>
              <a:rPr sz="1163" b="0">
                <a:solidFill>
                  <a:srgbClr val="B9C9DC"/>
                </a:solidFill>
              </a:rPr>
              <a:t>手机采集/复核高价值样本</a:t>
            </a:r>
          </a:p>
        </p:txBody>
      </p:sp>
      <p:sp>
        <p:nvSpPr>
          <p:cNvPr id="56" name="alarm-box">
            <a:extLst xmlns:a="http://schemas.openxmlformats.org/drawingml/2006/main">
              <a:ext uri="{FF2B5EF4-FFF2-40B4-BE49-F238E27FC236}">
                <a16:creationId xmlns:a16="http://schemas.microsoft.com/office/drawing/2014/main" id="{49A1E397-84A0-4295-ADBE-D8BA16972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819900"/>
            <a:ext cx="3429000" cy="723900"/>
          </a:xfrm>
          <a:prstGeom xmlns:a="http://schemas.openxmlformats.org/drawingml/2006/main" prst="roundRect">
            <a:avLst>
              <a:gd name="adj" fmla="val 28947"/>
            </a:avLst>
          </a:prstGeom>
          <a:solidFill xmlns:a="http://schemas.openxmlformats.org/drawingml/2006/main">
            <a:srgbClr val="2B1420"/>
          </a:solidFill>
          <a:ln xmlns:a="http://schemas.openxmlformats.org/drawingml/2006/main" w="15240">
            <a:solidFill>
              <a:srgbClr val="FF5C6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8FBFF"/>
                </a:solidFill>
              </a:defRPr>
            </a:pPr>
            <a:r>
              <a:rPr sz="1575" b="1">
                <a:solidFill>
                  <a:srgbClr val="F8FBFF"/>
                </a:solidFill>
              </a:rPr>
              <a:t>声光告警设备</a:t>
            </a:r>
          </a:p>
          <a:p xmlns:a="http://schemas.openxmlformats.org/drawingml/2006/main">
            <a:pPr algn="ctr">
              <a:defRPr sz="1575" b="1">
                <a:solidFill>
                  <a:srgbClr val="F8FBFF"/>
                </a:solidFill>
              </a:defRPr>
            </a:pPr>
            <a:r>
              <a:rPr sz="1575" b="1">
                <a:solidFill>
                  <a:srgbClr val="F8FBFF"/>
                </a:solidFill>
              </a:rPr>
              <a:t>报警灯 / 音响 / 语音播报</a:t>
            </a:r>
          </a:p>
        </p:txBody>
      </p:sp>
      <p:sp>
        <p:nvSpPr>
          <p:cNvPr id="57" name="time-sync">
            <a:extLst xmlns:a="http://schemas.openxmlformats.org/drawingml/2006/main">
              <a:ext uri="{FF2B5EF4-FFF2-40B4-BE49-F238E27FC236}">
                <a16:creationId xmlns:a16="http://schemas.microsoft.com/office/drawing/2014/main" id="{C1BD8DC3-5F61-4D6B-A5F9-D7A3961A0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6896100"/>
            <a:ext cx="26098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0C1D33"/>
          </a:solidFill>
          <a:ln xmlns:a="http://schemas.openxmlformats.org/drawingml/2006/main" w="9525">
            <a:solidFill>
              <a:srgbClr val="466C9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9C9DC"/>
                </a:solidFill>
              </a:defRPr>
            </a:pPr>
            <a:r>
              <a:rPr sz="1200" b="1">
                <a:solidFill>
                  <a:srgbClr val="B9C9DC"/>
                </a:solidFill>
              </a:rPr>
              <a:t>统一时间同步：NTP/PTP</a:t>
            </a:r>
          </a:p>
          <a:p xmlns:a="http://schemas.openxmlformats.org/drawingml/2006/main">
            <a:pPr algn="ctr">
              <a:defRPr sz="1200" b="1">
                <a:solidFill>
                  <a:srgbClr val="B9C9DC"/>
                </a:solidFill>
              </a:defRPr>
            </a:pPr>
            <a:r>
              <a:rPr sz="1200" b="1">
                <a:solidFill>
                  <a:srgbClr val="B9C9DC"/>
                </a:solidFill>
              </a:rPr>
              <a:t>相机 / 工控机 / PLC / 服务器</a:t>
            </a:r>
          </a:p>
        </p:txBody>
      </p:sp>
      <p:sp>
        <p:nvSpPr>
          <p:cNvPr id="58" name="network-seg">
            <a:extLst xmlns:a="http://schemas.openxmlformats.org/drawingml/2006/main">
              <a:ext uri="{FF2B5EF4-FFF2-40B4-BE49-F238E27FC236}">
                <a16:creationId xmlns:a16="http://schemas.microsoft.com/office/drawing/2014/main" id="{144CAA5A-F32C-47C3-AF39-755165446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6896100"/>
            <a:ext cx="23431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0C1D33"/>
          </a:solidFill>
          <a:ln xmlns:a="http://schemas.openxmlformats.org/drawingml/2006/main" w="9525">
            <a:solidFill>
              <a:srgbClr val="466C9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9C9DC"/>
                </a:solidFill>
              </a:defRPr>
            </a:pPr>
            <a:r>
              <a:rPr sz="1200" b="1">
                <a:solidFill>
                  <a:srgbClr val="B9C9DC"/>
                </a:solidFill>
              </a:rPr>
              <a:t>交换机 + VLAN隔离</a:t>
            </a:r>
          </a:p>
          <a:p xmlns:a="http://schemas.openxmlformats.org/drawingml/2006/main">
            <a:pPr algn="ctr">
              <a:defRPr sz="1200" b="1">
                <a:solidFill>
                  <a:srgbClr val="B9C9DC"/>
                </a:solidFill>
              </a:defRPr>
            </a:pPr>
            <a:r>
              <a:rPr sz="1200" b="1">
                <a:solidFill>
                  <a:srgbClr val="B9C9DC"/>
                </a:solidFill>
              </a:rPr>
              <a:t>视频网 / 控制网 / 业务网</a:t>
            </a:r>
          </a:p>
        </p:txBody>
      </p:sp>
      <p:sp>
        <p:nvSpPr>
          <p:cNvPr id="59" name="bottom-band">
            <a:extLst xmlns:a="http://schemas.openxmlformats.org/drawingml/2006/main">
              <a:ext uri="{FF2B5EF4-FFF2-40B4-BE49-F238E27FC236}">
                <a16:creationId xmlns:a16="http://schemas.microsoft.com/office/drawing/2014/main" id="{DD07C472-0996-4E42-9801-DAE6D2C14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77150"/>
            <a:ext cx="14097000" cy="723900"/>
          </a:xfrm>
          <a:prstGeom xmlns:a="http://schemas.openxmlformats.org/drawingml/2006/main" prst="roundRect">
            <a:avLst>
              <a:gd name="adj" fmla="val 28947"/>
            </a:avLst>
          </a:prstGeom>
          <a:solidFill xmlns:a="http://schemas.openxmlformats.org/drawingml/2006/main">
            <a:srgbClr val="081523"/>
          </a:solidFill>
          <a:ln xmlns:a="http://schemas.openxmlformats.org/drawingml/2006/main" w="9525">
            <a:solidFill>
              <a:srgbClr val="24486D"/>
            </a:solidFill>
            <a:prstDash val="solid"/>
          </a:ln>
        </p:spPr>
      </p:sp>
      <p:sp>
        <p:nvSpPr>
          <p:cNvPr id="60" name="m1-mini">
            <a:extLst xmlns:a="http://schemas.openxmlformats.org/drawingml/2006/main">
              <a:ext uri="{FF2B5EF4-FFF2-40B4-BE49-F238E27FC236}">
                <a16:creationId xmlns:a16="http://schemas.microsoft.com/office/drawing/2014/main" id="{C5203A8C-C965-412E-866E-9D74A25B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677150"/>
            <a:ext cx="26289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C1B30"/>
          </a:solidFill>
          <a:ln xmlns:a="http://schemas.openxmlformats.org/drawingml/2006/main" w="9525">
            <a:solidFill>
              <a:srgbClr val="244C7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1" name="m1-dot">
            <a:extLst xmlns:a="http://schemas.openxmlformats.org/drawingml/2006/main">
              <a:ext uri="{FF2B5EF4-FFF2-40B4-BE49-F238E27FC236}">
                <a16:creationId xmlns:a16="http://schemas.microsoft.com/office/drawing/2014/main" id="{93E08A7C-A577-4415-AD9E-B169F604A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9248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m1-title">
            <a:extLst xmlns:a="http://schemas.openxmlformats.org/drawingml/2006/main">
              <a:ext uri="{FF2B5EF4-FFF2-40B4-BE49-F238E27FC236}">
                <a16:creationId xmlns:a16="http://schemas.microsoft.com/office/drawing/2014/main" id="{D97504D5-A824-4EE2-80D0-752EF9CA1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78009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9C9DC"/>
                </a:solidFill>
              </a:defRPr>
            </a:pPr>
            <a:r>
              <a:rPr sz="1200" b="0">
                <a:solidFill>
                  <a:srgbClr val="B9C9DC"/>
                </a:solidFill>
              </a:rPr>
              <a:t>视频覆盖</a:t>
            </a:r>
          </a:p>
        </p:txBody>
      </p:sp>
      <p:sp>
        <p:nvSpPr>
          <p:cNvPr id="63" name="m1-value">
            <a:extLst xmlns:a="http://schemas.openxmlformats.org/drawingml/2006/main">
              <a:ext uri="{FF2B5EF4-FFF2-40B4-BE49-F238E27FC236}">
                <a16:creationId xmlns:a16="http://schemas.microsoft.com/office/drawing/2014/main" id="{F3588E16-CD09-4AB3-91AC-BBD8E49EC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80391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1相机覆盖4格口</a:t>
            </a:r>
          </a:p>
        </p:txBody>
      </p:sp>
      <p:sp>
        <p:nvSpPr>
          <p:cNvPr id="64" name="m2-mini">
            <a:extLst xmlns:a="http://schemas.openxmlformats.org/drawingml/2006/main">
              <a:ext uri="{FF2B5EF4-FFF2-40B4-BE49-F238E27FC236}">
                <a16:creationId xmlns:a16="http://schemas.microsoft.com/office/drawing/2014/main" id="{D7627031-5A66-4AE3-B38C-B520B214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7677150"/>
            <a:ext cx="26289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C1B30"/>
          </a:solidFill>
          <a:ln xmlns:a="http://schemas.openxmlformats.org/drawingml/2006/main" w="9525">
            <a:solidFill>
              <a:srgbClr val="244C7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5" name="m2-dot">
            <a:extLst xmlns:a="http://schemas.openxmlformats.org/drawingml/2006/main">
              <a:ext uri="{FF2B5EF4-FFF2-40B4-BE49-F238E27FC236}">
                <a16:creationId xmlns:a16="http://schemas.microsoft.com/office/drawing/2014/main" id="{C772408D-936A-4FD0-92A4-ECCA13CA4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79248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m2-title">
            <a:extLst xmlns:a="http://schemas.openxmlformats.org/drawingml/2006/main">
              <a:ext uri="{FF2B5EF4-FFF2-40B4-BE49-F238E27FC236}">
                <a16:creationId xmlns:a16="http://schemas.microsoft.com/office/drawing/2014/main" id="{CD28B99B-09B0-4F0B-8508-7E137380E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78009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9C9DC"/>
                </a:solidFill>
              </a:defRPr>
            </a:pPr>
            <a:r>
              <a:rPr sz="1200" b="0">
                <a:solidFill>
                  <a:srgbClr val="B9C9DC"/>
                </a:solidFill>
              </a:rPr>
              <a:t>分析位置</a:t>
            </a:r>
          </a:p>
        </p:txBody>
      </p:sp>
      <p:sp>
        <p:nvSpPr>
          <p:cNvPr id="67" name="m2-value">
            <a:extLst xmlns:a="http://schemas.openxmlformats.org/drawingml/2006/main">
              <a:ext uri="{FF2B5EF4-FFF2-40B4-BE49-F238E27FC236}">
                <a16:creationId xmlns:a16="http://schemas.microsoft.com/office/drawing/2014/main" id="{31729E3A-5677-46AC-B12A-4A53B4079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80391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现场边缘AI工控机</a:t>
            </a:r>
          </a:p>
        </p:txBody>
      </p:sp>
      <p:sp>
        <p:nvSpPr>
          <p:cNvPr id="68" name="m3-mini">
            <a:extLst xmlns:a="http://schemas.openxmlformats.org/drawingml/2006/main">
              <a:ext uri="{FF2B5EF4-FFF2-40B4-BE49-F238E27FC236}">
                <a16:creationId xmlns:a16="http://schemas.microsoft.com/office/drawing/2014/main" id="{ECDCA155-3842-44CF-9691-F7FDF91BB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7677150"/>
            <a:ext cx="26289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C1B30"/>
          </a:solidFill>
          <a:ln xmlns:a="http://schemas.openxmlformats.org/drawingml/2006/main" w="9525">
            <a:solidFill>
              <a:srgbClr val="244C7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9" name="m3-dot">
            <a:extLst xmlns:a="http://schemas.openxmlformats.org/drawingml/2006/main">
              <a:ext uri="{FF2B5EF4-FFF2-40B4-BE49-F238E27FC236}">
                <a16:creationId xmlns:a16="http://schemas.microsoft.com/office/drawing/2014/main" id="{55C61E70-FF6B-4C34-9ED9-0CCEE95F7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79248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C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m3-title">
            <a:extLst xmlns:a="http://schemas.openxmlformats.org/drawingml/2006/main">
              <a:ext uri="{FF2B5EF4-FFF2-40B4-BE49-F238E27FC236}">
                <a16:creationId xmlns:a16="http://schemas.microsoft.com/office/drawing/2014/main" id="{75B66281-EECD-43F8-805B-593C97A08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78009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9C9DC"/>
                </a:solidFill>
              </a:defRPr>
            </a:pPr>
            <a:r>
              <a:rPr sz="1200" b="0">
                <a:solidFill>
                  <a:srgbClr val="B9C9DC"/>
                </a:solidFill>
              </a:rPr>
              <a:t>报警闭环</a:t>
            </a:r>
          </a:p>
        </p:txBody>
      </p:sp>
      <p:sp>
        <p:nvSpPr>
          <p:cNvPr id="71" name="m3-value">
            <a:extLst xmlns:a="http://schemas.openxmlformats.org/drawingml/2006/main">
              <a:ext uri="{FF2B5EF4-FFF2-40B4-BE49-F238E27FC236}">
                <a16:creationId xmlns:a16="http://schemas.microsoft.com/office/drawing/2014/main" id="{C4AB7108-1C40-40E8-B6E7-BE231EDF9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80391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AI → PLC → 声光</a:t>
            </a:r>
          </a:p>
        </p:txBody>
      </p:sp>
      <p:sp>
        <p:nvSpPr>
          <p:cNvPr id="72" name="m4-mini">
            <a:extLst xmlns:a="http://schemas.openxmlformats.org/drawingml/2006/main">
              <a:ext uri="{FF2B5EF4-FFF2-40B4-BE49-F238E27FC236}">
                <a16:creationId xmlns:a16="http://schemas.microsoft.com/office/drawing/2014/main" id="{70DCF2F7-E9DB-41A5-8822-2F7AD67C1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7677150"/>
            <a:ext cx="26289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C1B30"/>
          </a:solidFill>
          <a:ln xmlns:a="http://schemas.openxmlformats.org/drawingml/2006/main" w="9525">
            <a:solidFill>
              <a:srgbClr val="244C7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3" name="m4-dot">
            <a:extLst xmlns:a="http://schemas.openxmlformats.org/drawingml/2006/main">
              <a:ext uri="{FF2B5EF4-FFF2-40B4-BE49-F238E27FC236}">
                <a16:creationId xmlns:a16="http://schemas.microsoft.com/office/drawing/2014/main" id="{783602CC-8686-4F4F-987E-869A5A59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79248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m4-title">
            <a:extLst xmlns:a="http://schemas.openxmlformats.org/drawingml/2006/main">
              <a:ext uri="{FF2B5EF4-FFF2-40B4-BE49-F238E27FC236}">
                <a16:creationId xmlns:a16="http://schemas.microsoft.com/office/drawing/2014/main" id="{164BB116-897C-407B-9C84-FD1A56EC5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78009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9C9DC"/>
                </a:solidFill>
              </a:defRPr>
            </a:pPr>
            <a:r>
              <a:rPr sz="1200" b="0">
                <a:solidFill>
                  <a:srgbClr val="B9C9DC"/>
                </a:solidFill>
              </a:rPr>
              <a:t>追溯数据</a:t>
            </a:r>
          </a:p>
        </p:txBody>
      </p:sp>
      <p:sp>
        <p:nvSpPr>
          <p:cNvPr id="75" name="m4-value">
            <a:extLst xmlns:a="http://schemas.openxmlformats.org/drawingml/2006/main">
              <a:ext uri="{FF2B5EF4-FFF2-40B4-BE49-F238E27FC236}">
                <a16:creationId xmlns:a16="http://schemas.microsoft.com/office/drawing/2014/main" id="{C572D485-E515-4E8A-89AC-48283E5A8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0391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存图 + 30秒视频</a:t>
            </a:r>
          </a:p>
        </p:txBody>
      </p:sp>
      <p:sp>
        <p:nvSpPr>
          <p:cNvPr id="76" name="m5-mini">
            <a:extLst xmlns:a="http://schemas.openxmlformats.org/drawingml/2006/main">
              <a:ext uri="{FF2B5EF4-FFF2-40B4-BE49-F238E27FC236}">
                <a16:creationId xmlns:a16="http://schemas.microsoft.com/office/drawing/2014/main" id="{7CEACD5F-5859-4C46-85E5-DFD197A33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7677150"/>
            <a:ext cx="26289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C1B30"/>
          </a:solidFill>
          <a:ln xmlns:a="http://schemas.openxmlformats.org/drawingml/2006/main" w="9525">
            <a:solidFill>
              <a:srgbClr val="244C7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7" name="m5-dot">
            <a:extLst xmlns:a="http://schemas.openxmlformats.org/drawingml/2006/main">
              <a:ext uri="{FF2B5EF4-FFF2-40B4-BE49-F238E27FC236}">
                <a16:creationId xmlns:a16="http://schemas.microsoft.com/office/drawing/2014/main" id="{0A6F217A-7E71-4728-BBDE-90D38236A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79248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m5-title">
            <a:extLst xmlns:a="http://schemas.openxmlformats.org/drawingml/2006/main">
              <a:ext uri="{FF2B5EF4-FFF2-40B4-BE49-F238E27FC236}">
                <a16:creationId xmlns:a16="http://schemas.microsoft.com/office/drawing/2014/main" id="{504DE639-9EDE-43E4-ACAA-5FAB0EB02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78009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9C9DC"/>
                </a:solidFill>
              </a:defRPr>
            </a:pPr>
            <a:r>
              <a:rPr sz="1200" b="0">
                <a:solidFill>
                  <a:srgbClr val="B9C9DC"/>
                </a:solidFill>
              </a:rPr>
              <a:t>后台能力</a:t>
            </a:r>
          </a:p>
        </p:txBody>
      </p:sp>
      <p:sp>
        <p:nvSpPr>
          <p:cNvPr id="79" name="m5-value">
            <a:extLst xmlns:a="http://schemas.openxmlformats.org/drawingml/2006/main">
              <a:ext uri="{FF2B5EF4-FFF2-40B4-BE49-F238E27FC236}">
                <a16:creationId xmlns:a16="http://schemas.microsoft.com/office/drawing/2014/main" id="{5834A663-4EE7-4180-A187-D3091E0CF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80391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报表 / App / 大屏</a:t>
            </a:r>
          </a:p>
        </p:txBody>
      </p:sp>
      <p:cxnSp>
        <p:nvCxnSpPr>
          <p:cNvPr id="176" name=""/>
          <p:cNvCxnSpPr>
            <a:stCxn xmlns:a="http://schemas.openxmlformats.org/drawingml/2006/main" id="16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4048125" y="3219450"/>
            <a:ext cx="1333500" cy="64293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5D7FF"/>
            </a:solidFill>
            <a:prstDash val="solid"/>
            <a:headEnd type="arrow" w="med" len="med"/>
          </a:ln>
        </p:spPr>
      </p:cxnSp>
      <p:cxnSp>
        <p:nvCxnSpPr>
          <p:cNvPr id="177" name=""/>
          <p:cNvCxnSpPr>
            <a:stCxn xmlns:a="http://schemas.openxmlformats.org/drawingml/2006/main" id="20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 flipV="1">
            <a:off x="4048125" y="3862388"/>
            <a:ext cx="1333500" cy="78581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F6B84B"/>
            </a:solidFill>
            <a:prstDash val="dash"/>
            <a:headEnd type="arrow" w="med" len="med"/>
          </a:ln>
        </p:spPr>
      </p:cxnSp>
      <p:cxnSp>
        <p:nvCxnSpPr>
          <p:cNvPr id="178" name=""/>
          <p:cNvCxnSpPr>
            <a:stCxn xmlns:a="http://schemas.openxmlformats.org/drawingml/2006/main" id="28" idx="3"/>
            <a:endCxn xmlns:a="http://schemas.openxmlformats.org/drawingml/2006/main" id="40" idx="1"/>
          </p:cNvCxnSpPr>
          <p:nvPr/>
        </p:nvCxnSpPr>
        <p:spPr>
          <a:xfrm xmlns:a="http://schemas.openxmlformats.org/drawingml/2006/main" flipV="1">
            <a:off x="9286875" y="3190875"/>
            <a:ext cx="1190625" cy="67151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32A7FF"/>
            </a:solidFill>
            <a:prstDash val="solid"/>
            <a:headEnd type="arrow" w="med" len="med"/>
          </a:ln>
        </p:spPr>
      </p:cxnSp>
      <p:cxnSp>
        <p:nvCxnSpPr>
          <p:cNvPr id="179" name=""/>
          <p:cNvCxnSpPr>
            <a:stCxn xmlns:a="http://schemas.openxmlformats.org/drawingml/2006/main" id="40" idx="2"/>
            <a:endCxn xmlns:a="http://schemas.openxmlformats.org/drawingml/2006/main" id="44" idx="0"/>
          </p:cNvCxnSpPr>
          <p:nvPr/>
        </p:nvCxnSpPr>
        <p:spPr>
          <a:xfrm xmlns:a="http://schemas.openxmlformats.org/drawingml/2006/main">
            <a:off x="12287250" y="3733800"/>
            <a:ext cx="0" cy="1143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F6B84B"/>
            </a:solidFill>
            <a:prstDash val="dash"/>
            <a:headEnd type="arrow" w="med" len="med"/>
          </a:ln>
        </p:spPr>
      </p:cxnSp>
      <p:cxnSp>
        <p:nvCxnSpPr>
          <p:cNvPr id="180" name=""/>
          <p:cNvCxnSpPr>
            <a:stCxn xmlns:a="http://schemas.openxmlformats.org/drawingml/2006/main" id="44" idx="1"/>
            <a:endCxn xmlns:a="http://schemas.openxmlformats.org/drawingml/2006/main" id="28" idx="3"/>
          </p:cNvCxnSpPr>
          <p:nvPr/>
        </p:nvCxnSpPr>
        <p:spPr>
          <a:xfrm xmlns:a="http://schemas.openxmlformats.org/drawingml/2006/main" flipH="1" flipV="1">
            <a:off x="9286875" y="3862388"/>
            <a:ext cx="1190625" cy="43338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F6B84B"/>
            </a:solidFill>
            <a:prstDash val="dash"/>
            <a:headEnd type="arrow" w="med" len="med"/>
          </a:ln>
        </p:spPr>
      </p:cxnSp>
      <p:cxnSp>
        <p:nvCxnSpPr>
          <p:cNvPr id="181" name=""/>
          <p:cNvCxnSpPr>
            <a:stCxn xmlns:a="http://schemas.openxmlformats.org/drawingml/2006/main" id="48" idx="1"/>
            <a:endCxn xmlns:a="http://schemas.openxmlformats.org/drawingml/2006/main" id="28" idx="3"/>
          </p:cNvCxnSpPr>
          <p:nvPr/>
        </p:nvCxnSpPr>
        <p:spPr>
          <a:xfrm xmlns:a="http://schemas.openxmlformats.org/drawingml/2006/main" flipH="1" flipV="1">
            <a:off x="9286875" y="3862388"/>
            <a:ext cx="1190625" cy="152876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36D399"/>
            </a:solidFill>
            <a:prstDash val="dash"/>
            <a:headEnd type="arrow" w="med" len="med"/>
          </a:ln>
        </p:spPr>
      </p:cxnSp>
      <p:cxnSp>
        <p:nvCxnSpPr>
          <p:cNvPr id="182" name=""/>
          <p:cNvCxnSpPr>
            <a:stCxn xmlns:a="http://schemas.openxmlformats.org/drawingml/2006/main" id="28" idx="1"/>
            <a:endCxn xmlns:a="http://schemas.openxmlformats.org/drawingml/2006/main" id="24" idx="3"/>
          </p:cNvCxnSpPr>
          <p:nvPr/>
        </p:nvCxnSpPr>
        <p:spPr>
          <a:xfrm xmlns:a="http://schemas.openxmlformats.org/drawingml/2006/main" flipH="1">
            <a:off x="4048125" y="3862388"/>
            <a:ext cx="1333500" cy="20716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2860">
            <a:solidFill>
              <a:srgbClr val="36D399"/>
            </a:solidFill>
            <a:prstDash val="solid"/>
            <a:headEnd type="arrow" w="med" len="med"/>
          </a:ln>
        </p:spPr>
      </p:cxnSp>
      <p:cxnSp>
        <p:nvCxnSpPr>
          <p:cNvPr id="183" name=""/>
          <p:cNvCxnSpPr>
            <a:stCxn xmlns:a="http://schemas.openxmlformats.org/drawingml/2006/main" id="28" idx="2"/>
            <a:endCxn xmlns:a="http://schemas.openxmlformats.org/drawingml/2006/main" id="56" idx="0"/>
          </p:cNvCxnSpPr>
          <p:nvPr/>
        </p:nvCxnSpPr>
        <p:spPr>
          <a:xfrm xmlns:a="http://schemas.openxmlformats.org/drawingml/2006/main">
            <a:off x="7334250" y="5076825"/>
            <a:ext cx="0" cy="17430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FF5C6C"/>
            </a:solidFill>
            <a:prstDash val="solid"/>
            <a:headEnd type="arrow" w="med" len="med"/>
          </a:ln>
        </p:spPr>
      </p:cxnSp>
      <p:cxnSp>
        <p:nvCxnSpPr>
          <p:cNvPr id="184" name=""/>
          <p:cNvCxnSpPr>
            <a:stCxn xmlns:a="http://schemas.openxmlformats.org/drawingml/2006/main" id="24" idx="3"/>
            <a:endCxn xmlns:a="http://schemas.openxmlformats.org/drawingml/2006/main" id="56" idx="1"/>
          </p:cNvCxnSpPr>
          <p:nvPr/>
        </p:nvCxnSpPr>
        <p:spPr>
          <a:xfrm xmlns:a="http://schemas.openxmlformats.org/drawingml/2006/main">
            <a:off x="4048125" y="5934075"/>
            <a:ext cx="1571625" cy="12477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FF5C6C"/>
            </a:solidFill>
            <a:prstDash val="solid"/>
            <a:headEnd type="arrow" w="med" len="med"/>
          </a:ln>
        </p:spPr>
      </p:cxnSp>
      <p:cxnSp>
        <p:nvCxnSpPr>
          <p:cNvPr id="185" name=""/>
          <p:cNvCxnSpPr>
            <a:stCxn xmlns:a="http://schemas.openxmlformats.org/drawingml/2006/main" id="52" idx="0"/>
            <a:endCxn xmlns:a="http://schemas.openxmlformats.org/drawingml/2006/main" id="44" idx="2"/>
          </p:cNvCxnSpPr>
          <p:nvPr/>
        </p:nvCxnSpPr>
        <p:spPr>
          <a:xfrm xmlns:a="http://schemas.openxmlformats.org/drawingml/2006/main" flipV="1">
            <a:off x="12287250" y="4743450"/>
            <a:ext cx="0" cy="12763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5D7FF"/>
            </a:solidFill>
            <a:prstDash val="dash"/>
            <a:headEnd type="arrow" w="med" len="med"/>
          </a:ln>
        </p:spPr>
      </p:cxnSp>
      <p:cxnSp>
        <p:nvCxnSpPr>
          <p:cNvPr id="186" name=""/>
          <p:cNvCxnSpPr>
            <a:stCxn xmlns:a="http://schemas.openxmlformats.org/drawingml/2006/main" id="57" idx="0"/>
            <a:endCxn xmlns:a="http://schemas.openxmlformats.org/drawingml/2006/main" id="28" idx="2"/>
          </p:cNvCxnSpPr>
          <p:nvPr/>
        </p:nvCxnSpPr>
        <p:spPr>
          <a:xfrm xmlns:a="http://schemas.openxmlformats.org/drawingml/2006/main" flipH="1" flipV="1">
            <a:off x="7334250" y="5076825"/>
            <a:ext cx="3438525" cy="18192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8EBEFF"/>
            </a:solidFill>
            <a:prstDash val="dash"/>
            <a:headEnd type="arrow" w="med" len="med"/>
          </a:ln>
        </p:spPr>
      </p:cxnSp>
      <p:cxnSp>
        <p:nvCxnSpPr>
          <p:cNvPr id="187" name=""/>
          <p:cNvCxnSpPr>
            <a:stCxn xmlns:a="http://schemas.openxmlformats.org/drawingml/2006/main" id="58" idx="0"/>
            <a:endCxn xmlns:a="http://schemas.openxmlformats.org/drawingml/2006/main" id="28" idx="2"/>
          </p:cNvCxnSpPr>
          <p:nvPr/>
        </p:nvCxnSpPr>
        <p:spPr>
          <a:xfrm xmlns:a="http://schemas.openxmlformats.org/drawingml/2006/main" flipV="1">
            <a:off x="4067175" y="5076825"/>
            <a:ext cx="3267075" cy="18192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8EBEFF"/>
            </a:solidFill>
            <a:prstDash val="dash"/>
            <a:headEnd type="arrow" w="med" len="med"/>
          </a:ln>
        </p:spPr>
      </p:cxnSp>
      <p:sp>
        <p:nvSpPr>
          <p:cNvPr id="92" name="flow-label-1">
            <a:extLst xmlns:a="http://schemas.openxmlformats.org/drawingml/2006/main">
              <a:ext uri="{FF2B5EF4-FFF2-40B4-BE49-F238E27FC236}">
                <a16:creationId xmlns:a16="http://schemas.microsoft.com/office/drawing/2014/main" id="{5EE2863F-1F13-4D43-AC84-B86651934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000375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7FF"/>
                </a:solidFill>
              </a:defRPr>
            </a:pPr>
            <a:r>
              <a:rPr sz="1125" b="1">
                <a:solidFill>
                  <a:srgbClr val="25D7FF"/>
                </a:solidFill>
              </a:rPr>
              <a:t>视频流</a:t>
            </a:r>
          </a:p>
        </p:txBody>
      </p:sp>
      <p:sp>
        <p:nvSpPr>
          <p:cNvPr id="93" name="flow-label-2">
            <a:extLst xmlns:a="http://schemas.openxmlformats.org/drawingml/2006/main">
              <a:ext uri="{FF2B5EF4-FFF2-40B4-BE49-F238E27FC236}">
                <a16:creationId xmlns:a16="http://schemas.microsoft.com/office/drawing/2014/main" id="{06B54411-FDA2-433F-968E-F3FC481F6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743575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6D399"/>
                </a:solidFill>
              </a:defRPr>
            </a:pPr>
            <a:r>
              <a:rPr sz="1125" b="1">
                <a:solidFill>
                  <a:srgbClr val="36D399"/>
                </a:solidFill>
              </a:rPr>
              <a:t>状态/节拍</a:t>
            </a:r>
          </a:p>
        </p:txBody>
      </p:sp>
      <p:sp>
        <p:nvSpPr>
          <p:cNvPr id="94" name="flow-label-3">
            <a:extLst xmlns:a="http://schemas.openxmlformats.org/drawingml/2006/main">
              <a:ext uri="{FF2B5EF4-FFF2-40B4-BE49-F238E27FC236}">
                <a16:creationId xmlns:a16="http://schemas.microsoft.com/office/drawing/2014/main" id="{A2F72894-90B0-4DAF-BC20-3DB27C930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14325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2A7FF"/>
                </a:solidFill>
              </a:defRPr>
            </a:pPr>
            <a:r>
              <a:rPr sz="1125" b="1">
                <a:solidFill>
                  <a:srgbClr val="32A7FF"/>
                </a:solidFill>
              </a:rPr>
              <a:t>事件/片段</a:t>
            </a:r>
          </a:p>
        </p:txBody>
      </p:sp>
      <p:sp>
        <p:nvSpPr>
          <p:cNvPr id="95" name="flow-label-4">
            <a:extLst xmlns:a="http://schemas.openxmlformats.org/drawingml/2006/main">
              <a:ext uri="{FF2B5EF4-FFF2-40B4-BE49-F238E27FC236}">
                <a16:creationId xmlns:a16="http://schemas.microsoft.com/office/drawing/2014/main" id="{0B63D409-D77A-4065-AA1A-A085C3946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B84B"/>
                </a:solidFill>
              </a:defRPr>
            </a:pPr>
            <a:r>
              <a:rPr sz="1125" b="1">
                <a:solidFill>
                  <a:srgbClr val="F6B84B"/>
                </a:solidFill>
              </a:rPr>
              <a:t>模型版本</a:t>
            </a:r>
          </a:p>
        </p:txBody>
      </p:sp>
      <p:sp>
        <p:nvSpPr>
          <p:cNvPr id="96" name="flow-label-5">
            <a:extLst xmlns:a="http://schemas.openxmlformats.org/drawingml/2006/main">
              <a:ext uri="{FF2B5EF4-FFF2-40B4-BE49-F238E27FC236}">
                <a16:creationId xmlns:a16="http://schemas.microsoft.com/office/drawing/2014/main" id="{795868C0-7FCB-4111-A77A-CC411A314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41020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6D399"/>
                </a:solidFill>
              </a:defRPr>
            </a:pPr>
            <a:r>
              <a:rPr sz="1125" b="1">
                <a:solidFill>
                  <a:srgbClr val="36D399"/>
                </a:solidFill>
              </a:rPr>
              <a:t>目标格口</a:t>
            </a:r>
          </a:p>
        </p:txBody>
      </p:sp>
    </p:spTree>
    <p:extLst>
      <p:ext uri="{BB962C8B-B14F-4D97-AF65-F5344CB8AC3E}">
        <p14:creationId xmlns:p14="http://schemas.microsoft.com/office/powerpoint/2010/main" val="9673997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2026-07-23T12:13:23.5620000Z</dcterms:created>
  <dcterms:modified xsi:type="dcterms:W3CDTF">2026-07-23T12:13:23.5620000Z</dcterms:modified>
</coreProperties>
</file>